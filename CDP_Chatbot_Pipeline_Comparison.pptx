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88AA"/>
                </a:solidFill>
              </a:defRPr>
            </a:pPr>
            <a:r>
              <a:t>CDP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Content Management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CC"/>
                </a:solidFill>
              </a:defRPr>
            </a:pPr>
            <a:r>
              <a:t>From QA Pair Review to Intelligent Document Processing &amp; RAG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4114800"/>
            <a:ext cx="2133295" cy="36576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4572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8EFF"/>
                </a:solidFill>
              </a:defRPr>
            </a:pPr>
            <a:r>
              <a:t>Old Approach  vs  New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1206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AA"/>
                </a:solidFill>
              </a:defRPr>
            </a:pPr>
            <a:r>
              <a:t>Cooperstown Dreams Park  |  CDPGPT  |  Content 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Why the Change?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Limitations of the old approach and the need for a better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</a:defRPr>
            </a:pPr>
            <a:r>
              <a:t>Challenges with Old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Manual QA pair review is time-consuming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Admin must review each Q&amp;A individually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Status-based workflow (Correct / Incorrect / Junk) is rigid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Suggestions are per-answer, no bulk content updates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No support for ingesting documents, PDFs, or web content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FF6B6B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Knowledge base grows slowly — one QA at a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</a:defRPr>
            </a:pPr>
            <a:r>
              <a:t>What We Needed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Upload entire documents at once (PDF, TXT, Images)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Scrape website pages and auto-convert to knowledge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Unified markdown format for easy editing by admin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Automatic vector indexing for instant RAG retrieval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Scalable — add hundreds of pages in minutes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4ECB71"/>
                </a:solidFill>
              </a:rPr>
              <a:t>  &gt;  </a:t>
            </a:r>
            <a:r>
              <a:rPr sz="1400">
                <a:solidFill>
                  <a:srgbClr val="BBBBCC"/>
                </a:solidFill>
              </a:rPr>
              <a:t>Admin edits content directly, changes reflect in chatbot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Old Approach — QA Pair Review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Manual review of chatbot-generated Q&amp;A pairs through the Config Admin panel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42"/>
                </a:solidFill>
              </a:defRPr>
            </a:pPr>
            <a:r>
              <a:t>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1.  </a:t>
            </a:r>
            <a:r>
              <a:rPr sz="1300">
                <a:solidFill>
                  <a:srgbClr val="BBBBCC"/>
                </a:solidFill>
              </a:rPr>
              <a:t>User asks a question to the chatbot (CDPGPT)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2.  </a:t>
            </a:r>
            <a:r>
              <a:rPr sz="1300">
                <a:solidFill>
                  <a:srgbClr val="BBBBCC"/>
                </a:solidFill>
              </a:rPr>
              <a:t>Chatbot generates an answer from existing knowledge base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3.  </a:t>
            </a:r>
            <a:r>
              <a:rPr sz="1300">
                <a:solidFill>
                  <a:srgbClr val="BBBBCC"/>
                </a:solidFill>
              </a:rPr>
              <a:t>Admin reviews the QA pair in Conversation History (Config Admin panel)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4.  </a:t>
            </a:r>
            <a:r>
              <a:rPr sz="1300">
                <a:solidFill>
                  <a:srgbClr val="BBBBCC"/>
                </a:solidFill>
              </a:rPr>
              <a:t>Admin sets a Status: Correct / Incorrect / Partially Correct / Junk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5.  </a:t>
            </a:r>
            <a:r>
              <a:rPr sz="1300">
                <a:solidFill>
                  <a:srgbClr val="BBBBCC"/>
                </a:solidFill>
              </a:rPr>
              <a:t>If Incorrect or Partially Correct — admin provides a Suggestion (corrected answer)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>
                <a:solidFill>
                  <a:srgbClr val="FF8C42"/>
                </a:solidFill>
              </a:rPr>
              <a:t>  6.  </a:t>
            </a:r>
            <a:r>
              <a:rPr sz="1300">
                <a:solidFill>
                  <a:srgbClr val="BBBBCC"/>
                </a:solidFill>
              </a:rPr>
              <a:t>Updated answer is saved back to the database for future 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74720"/>
            <a:ext cx="3474720" cy="283464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93D"/>
                </a:solidFill>
              </a:defRPr>
            </a:pPr>
            <a:r>
              <a:t>Status Options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D93D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Correct — answer is verified, no change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D93D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Incorrect — answer is wrong, admin provides fix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D93D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Partially Correct — needs minor corrections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D93D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Junk — irrelevant, flagged for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474720"/>
            <a:ext cx="3474720" cy="283464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611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8EFF"/>
                </a:solidFill>
              </a:defRPr>
            </a:pPr>
            <a:r>
              <a:t>Key Components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0690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CDPGPT Conversation History page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Filter by Year &amp; Tournament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Action button to open QA review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Save button persists to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474720"/>
            <a:ext cx="3383280" cy="283464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36118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</a:defRPr>
            </a:pPr>
            <a:r>
              <a:t>Limitations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0690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6B6B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One QA pair at a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6B6B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Reactive — only fixes after user asks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6B6B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No document/URL ingestion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FF6B6B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Slow knowledge base growth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New Approach — Document Upload &amp;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Upload files or scrape URLs → auto-convert to Markdown → index in FAISS → RAG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</a:defRPr>
            </a:pPr>
            <a:r>
              <a:t>Pipeline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1.  </a:t>
            </a:r>
            <a:r>
              <a:rPr sz="1200">
                <a:solidFill>
                  <a:srgbClr val="BBBBCC"/>
                </a:solidFill>
              </a:rPr>
              <a:t>Admin clicks Upload → chooses File Upload or URL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2.  </a:t>
            </a:r>
            <a:r>
              <a:rPr sz="1200">
                <a:solidFill>
                  <a:srgbClr val="BBBBCC"/>
                </a:solidFill>
              </a:rPr>
              <a:t>File: PDF / TXT / MD / Images are processed via Docling (OCR + structure extraction)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3.  </a:t>
            </a:r>
            <a:r>
              <a:rPr sz="1200">
                <a:solidFill>
                  <a:srgbClr val="BBBBCC"/>
                </a:solidFill>
              </a:rPr>
              <a:t>URL: Page is scraped with httpx, HTML converted to clean Markdown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4.  </a:t>
            </a:r>
            <a:r>
              <a:rPr sz="1200">
                <a:solidFill>
                  <a:srgbClr val="BBBBCC"/>
                </a:solidFill>
              </a:rPr>
              <a:t>Output saved as .md file with descriptive name (e.g. cooperstowndreamspark_com_testimonials.md)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5.  </a:t>
            </a:r>
            <a:r>
              <a:rPr sz="1200">
                <a:solidFill>
                  <a:srgbClr val="BBBBCC"/>
                </a:solidFill>
              </a:rPr>
              <a:t>Content is chunked (500 words, 50 overlap) → embedded via OpenAI text-embedding-3-small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6.  </a:t>
            </a:r>
            <a:r>
              <a:rPr sz="1200">
                <a:solidFill>
                  <a:srgbClr val="BBBBCC"/>
                </a:solidFill>
              </a:rPr>
              <a:t>Vectors stored in FAISS index → instantly searchable via RAG Chat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1">
                <a:solidFill>
                  <a:srgbClr val="00C9A7"/>
                </a:solidFill>
              </a:rPr>
              <a:t>  7.  </a:t>
            </a:r>
            <a:r>
              <a:rPr sz="1200">
                <a:solidFill>
                  <a:srgbClr val="BBBBCC"/>
                </a:solidFill>
              </a:rPr>
              <a:t>Admin can view, edit, or delete any .md file from the Files page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94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8EFF"/>
                </a:solidFill>
              </a:defRPr>
            </a:pPr>
            <a:r>
              <a:t>Input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062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PDF documents (OCR via Docling)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Images: PNG, JPG, WEBP, BMP, TIFF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Plain text (.txt) and Markdown (.md)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8EFF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Any website URL (auto-scrape)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65760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794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</a:defRPr>
            </a:pPr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2062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00C9A7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Docling extracts text, tables, images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00C9A7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HTML → Markdown via BeautifulSoup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00C9A7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Smart file naming from URL/filename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00C9A7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Structured JSON + Markdown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37947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</a:defRPr>
            </a:pPr>
            <a:r>
              <a:t>Storage &amp; 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2062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CB71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FAISS vector index (L2 similarity)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CB71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OpenAI text-embedding-3-small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CB71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GPT-4o for answer generation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 b="1">
                <a:solidFill>
                  <a:srgbClr val="4ECB71"/>
                </a:solidFill>
              </a:rPr>
              <a:t>  &gt;  </a:t>
            </a:r>
            <a:r>
              <a:rPr sz="1300">
                <a:solidFill>
                  <a:srgbClr val="BBBBCC"/>
                </a:solidFill>
              </a:rPr>
              <a:t>Top-k configurable (1–20 chunks)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Old vs New — Comparison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200400" cy="548640"/>
          </a:xfrm>
          <a:prstGeom prst="roundRect">
            <a:avLst>
              <a:gd name="adj" fmla="val 5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Feature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371600"/>
            <a:ext cx="3840480" cy="548640"/>
          </a:xfrm>
          <a:prstGeom prst="roundRect">
            <a:avLst>
              <a:gd name="adj" fmla="val 5000"/>
            </a:avLst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399032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Old Approach (QA Review)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749039" cy="548640"/>
          </a:xfrm>
          <a:prstGeom prst="roundRect">
            <a:avLst>
              <a:gd name="adj" fmla="val 5000"/>
            </a:avLst>
          </a:prstGeom>
          <a:solidFill>
            <a:srgbClr val="1A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39903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New Approach (Content Manager)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1680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Content 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2011680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03168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Chat-generated QA pairs 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2011680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3168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PDF, TXT, Images, URLs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87168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0716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Admin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2487168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250716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Review one QA pair at a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2487168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50716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Upload bulk files or scrape pages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62656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82656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Data Format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0" y="2962656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0" y="2982656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QA pairs in database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2962656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2982656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Markdown (.md)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438144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58144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Editing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31920" y="3438144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0" y="3458144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Status + Suggestion per answer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3438144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3458144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Edit full .md document directly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913632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933632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Knowledge Growth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31920" y="3913632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933632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Slow — one answer at a time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55279" y="3913632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3933632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Fast — entire documents at once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389120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409120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Search / Retrieval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31920" y="4389120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0" y="440912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Database keyword lookup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79" y="4389120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8160" y="440912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FAISS vector similarity (RAG)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4864608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88460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AI Model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1920" y="4864608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0" y="488460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GPT-based answer generation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4864608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488460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GPT-4o + text-embedding-3-small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340096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360096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Scalability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31920" y="5340096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0" y="5360096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Limited by QA volume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955279" y="5340096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1E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38160" y="5360096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Upload 100s of pages in minutes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48640" y="5815584"/>
            <a:ext cx="320040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835584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</a:defRPr>
            </a:pPr>
            <a:r>
              <a:t>Content Sources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31920" y="5815584"/>
            <a:ext cx="3840480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0" y="5835584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Only chatbot conversations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55279" y="5815584"/>
            <a:ext cx="3749039" cy="475488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5835584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Any document or website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New Approach —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Full stack: Streamlit frontend  +  FastAPI backend  +  FAISS vector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Frontend</a:t>
            </a:r>
            <a:br/>
            <a:r>
              <a:t>Streamlit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228600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8EFF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Content Manager UI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8EFF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File Upload / URL Scrape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8EFF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RAG Chat Interface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8EFF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Files Browser &amp; Editor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73736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75564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Backend</a:t>
            </a:r>
            <a:br/>
            <a:r>
              <a:t>FastAPI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2560320"/>
            <a:ext cx="228600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265176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00C9A7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POST /upload — file processing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00C9A7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POST /scrape — URL fetching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00C9A7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POST /rag/query — RAG search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00C9A7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GET /files — list all 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73736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75564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Processing</a:t>
            </a:r>
            <a:br/>
            <a:r>
              <a:t>Docling + BS4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2560320"/>
            <a:ext cx="228600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265176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FF8C42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PDF OCR extraction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FF8C42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Image text recognition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FF8C42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HTML → Markdown conversion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FF8C42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Table &amp; structure parsing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73736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75564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Vector Store</a:t>
            </a:r>
            <a:br/>
            <a:r>
              <a:t>FAISS + OpenAI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560320"/>
            <a:ext cx="228600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65176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CB71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text-embedding-3-small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CB71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Chunking (500w / 50 overlap)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CB71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L2 similarity search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100" b="1">
                <a:solidFill>
                  <a:srgbClr val="4ECB71"/>
                </a:solidFill>
              </a:rPr>
              <a:t>  &gt;  </a:t>
            </a:r>
            <a:r>
              <a:rPr sz="1100">
                <a:solidFill>
                  <a:srgbClr val="BBBBCC"/>
                </a:solidFill>
              </a:rPr>
              <a:t>GPT-4o answer generation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88AA"/>
                </a:solidFill>
              </a:defRPr>
            </a:pPr>
            <a:r>
              <a:t>-&gt;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88AA"/>
                </a:solidFill>
              </a:defRPr>
            </a:pPr>
            <a:r>
              <a:t>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88AA"/>
                </a:solidFill>
              </a:defRPr>
            </a:pPr>
            <a:r>
              <a:t>-&gt;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20640"/>
            <a:ext cx="9875520" cy="13716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93D"/>
                </a:solidFill>
              </a:defRPr>
            </a:pPr>
            <a:r>
              <a:t>Data Flow Example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235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</a:defRPr>
            </a:pPr>
            <a:r>
              <a:t>URL: cooperstowndreamspark.com/testimonials</a:t>
            </a:r>
            <a:br/>
            <a:r>
              <a:t>  --&gt;  Fetch HTML with httpx  --&gt;  Strip nav/footer/scripts  --&gt;  Convert to Markdown</a:t>
            </a:r>
            <a:br/>
            <a:r>
              <a:t>  --&gt;  Save as cooperstowndreamspark_com_testimonials.md  --&gt;  Chunk into 500-word segments</a:t>
            </a:r>
            <a:br/>
            <a:r>
              <a:t>  --&gt;  Embed each chunk via OpenAI  --&gt;  Add to FAISS index  --&gt;  Ready for RAG queries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Smart File Naming Convention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AA"/>
                </a:solidFill>
              </a:defRPr>
            </a:pPr>
            <a:r>
              <a:t>All content is stored as .md (Markdown) with human-readable names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64592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A7"/>
                </a:solidFill>
              </a:defRPr>
            </a:pPr>
            <a:r>
              <a:t>URL Scraping — Name derived from URL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cooperstowndreamspark.com/testimonials/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317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</a:defRPr>
            </a:pPr>
            <a:r>
              <a:t>--&gt;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31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cooperstowndreamspark_com_testimonials.md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example.com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</a:defRPr>
            </a:pPr>
            <a:r>
              <a:t>--&gt;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example_com.md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xyz.com/abc/def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8803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</a:defRPr>
            </a:pPr>
            <a:r>
              <a:t>--&gt;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xyz_com_abc_def.md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xyz.com/page.html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154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</a:defRPr>
            </a:pPr>
            <a:r>
              <a:t>--&gt;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154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xyz_com_page.md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5760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490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8EFF"/>
                </a:solidFill>
              </a:defRPr>
            </a:pPr>
            <a:r>
              <a:t>File Upload — Name derived from original filename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206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img 1.jpg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206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8EFF"/>
                </a:solidFill>
              </a:defRPr>
            </a:pPr>
            <a:r>
              <a:t>--&gt;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206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8EFF"/>
                </a:solidFill>
              </a:defRPr>
            </a:pPr>
            <a:r>
              <a:t>img_1.md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Annual Report 2025.pdf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805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8EFF"/>
                </a:solidFill>
              </a:defRPr>
            </a:pPr>
            <a:r>
              <a:t>--&gt;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480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8EFF"/>
                </a:solidFill>
              </a:defRPr>
            </a:pPr>
            <a:r>
              <a:t>Annual_Report_2025.md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sample_test_document.md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8EFF"/>
                </a:solidFill>
              </a:defRPr>
            </a:pPr>
            <a:r>
              <a:t>--&gt;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754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8EFF"/>
                </a:solidFill>
              </a:defRPr>
            </a:pPr>
            <a:r>
              <a:t>sample_test_document.md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029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</a:defRPr>
            </a:pPr>
            <a:r>
              <a:t>photo.png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5029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8EFF"/>
                </a:solidFill>
              </a:defRPr>
            </a:pPr>
            <a:r>
              <a:t>--&gt;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029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8EFF"/>
                </a:solidFill>
              </a:defRPr>
            </a:pPr>
            <a:r>
              <a:t>photo.md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03520"/>
            <a:ext cx="11064240" cy="640080"/>
          </a:xfrm>
          <a:prstGeom prst="roundRect">
            <a:avLst>
              <a:gd name="adj" fmla="val 5000"/>
            </a:avLst>
          </a:prstGeom>
          <a:solidFill>
            <a:srgbClr val="1A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349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</a:defRPr>
            </a:pPr>
            <a:r>
              <a:t>Rule: All files are always stored and displayed as .md — the user never sees the original format. Conversion happens in the background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Key Benefits of the New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2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8E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0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10x Faster Content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4216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Upload entire documents or scrape full websites instead of reviewing one QA pair at a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9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7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Unified Markdown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29028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Everything stored as .md — easy to read, edit, and version control. Admin has full control over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0896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15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B71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38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Automatic Vector Indexing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58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Content is chunked and embedded automatically via FAISS + OpenAI. Instantly searchable via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027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0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Multi-Source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7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PDF, TXT, Images (OCR via Docling), Markdown files, and any website URL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4632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89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93D"/>
                </a:solidFill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76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Smart Naming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89632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Files named from URLs (cooperstowndreamspark_com_testimonials.md) or original filenames — always 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71500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6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8EFF"/>
                </a:solidFill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745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RAG-Powered 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7650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</a:defRPr>
            </a:pPr>
            <a:r>
              <a:t>GPT-4o generates answers grounded in your indexed documents with configurable top-k retrieval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2926080"/>
            <a:ext cx="2133295" cy="36576"/>
          </a:xfrm>
          <a:prstGeom prst="roundRect">
            <a:avLst>
              <a:gd name="adj" fmla="val 5000"/>
            </a:avLst>
          </a:prstGeom>
          <a:solidFill>
            <a:srgbClr val="4E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CC"/>
                </a:solidFill>
              </a:defRPr>
            </a:pPr>
            <a:r>
              <a:t>CDP Chatbot — Content Management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023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AA"/>
                </a:solidFill>
              </a:defRPr>
            </a:pPr>
            <a:r>
              <a:t>Cooperstown Dreams Park  |  Powered by FAISS + GPT-4o + Docling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FastAPI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Streamlit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FAISS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OpenAI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Docling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8200" y="484632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486460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8EFF"/>
                </a:solidFill>
              </a:defRPr>
            </a:pPr>
            <a:r>
              <a:t>BeautifulSoup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
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>
              <a:gd name="adj" fmla="val 5000"/>
            </a:avLst>
          </a:prstGeom>
          <a:solidFill>
            <a:srgbClr val="4E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888AA"/>
                </a:solidFill>
              </a:defRPr>
            </a:pPr>
            <a:r>
              <a:t>CDP CHATBOT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Content Management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BBBCC"/>
                </a:solidFill>
              </a:defRPr>
            </a:pPr>
            <a:r>
              <a:t>From QA Pair Review to Intelligent Document Processing &amp; RAG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4114800"/>
            <a:ext cx="2133295" cy="36576"/>
          </a:xfrm>
          <a:prstGeom prst="roundRect">
            <a:avLst>
              <a:gd name="adj" fmla="val 5000"/>
            </a:avLst>
          </a:prstGeom>
          <a:solidFill>
            <a:srgbClr val="4E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E8EFF"/>
                </a:solidFill>
              </a:defRPr>
            </a:pPr>
            <a:r>
              <a:t>Old Approach  vs  New 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1206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AA"/>
                </a:solidFill>
              </a:defRPr>
            </a:pPr>
            <a:r>
              <a:t>Cooperstown Dreams Park  |  CDPGPT  |  Content Manager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>
              <a:gd name="adj" fmla="val 5000"/>
            </a:avLst>
          </a:prstGeom>
          <a:solidFill>
            <a:srgbClr val="4E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Why the Change?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AA"/>
                </a:solidFill>
              </a:defRPr>
            </a:pPr>
            <a:r>
              <a:t>Limitations of the old approach and the need for a better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03520" cy="438912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6B"/>
                </a:solidFill>
              </a:defRPr>
            </a:pPr>
            <a:r>
              <a:t>Challenges with Old 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FF6B6B"/>
                </a:solidFill>
              </a:rPr>
              <a:t>  &gt;  </a:t>
            </a:r>
            <a:r>
              <a:rPr sz="1400">
                <a:solidFill>
                  <a:srgbClr val="BBBBCC"/>
                </a:solidFill>
              </a:rPr>
              <a:t>Manual QA pair review is time-consuming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FF6B6B"/>
                </a:solidFill>
              </a:rPr>
              <a:t>  &gt;  </a:t>
            </a:r>
            <a:r>
              <a:rPr sz="1400">
                <a:solidFill>
                  <a:srgbClr val="BBBBCC"/>
                </a:solidFill>
              </a:rPr>
              <a:t>Admin must review each Q&amp;A individually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FF6B6B"/>
                </a:solidFill>
              </a:rPr>
              <a:t>  &gt;  </a:t>
            </a:r>
            <a:r>
              <a:rPr sz="1400">
                <a:solidFill>
                  <a:srgbClr val="BBBBCC"/>
                </a:solidFill>
              </a:rPr>
              <a:t>Status-based workflow (Correct / Incorrect / Junk) is rigid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FF6B6B"/>
                </a:solidFill>
              </a:rPr>
              <a:t>  &gt;  </a:t>
            </a:r>
            <a:r>
              <a:rPr sz="1400">
                <a:solidFill>
                  <a:srgbClr val="BBBBCC"/>
                </a:solidFill>
              </a:rPr>
              <a:t>Suggestions are per-answer, no bulk content updates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FF6B6B"/>
                </a:solidFill>
              </a:rPr>
              <a:t>  &gt;  </a:t>
            </a:r>
            <a:r>
              <a:rPr sz="1400">
                <a:solidFill>
                  <a:srgbClr val="BBBBCC"/>
                </a:solidFill>
              </a:rPr>
              <a:t>No support for ingesting documents, PDFs, or web content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FF6B6B"/>
                </a:solidFill>
              </a:rPr>
              <a:t>  &gt;  </a:t>
            </a:r>
            <a:r>
              <a:rPr sz="1400">
                <a:solidFill>
                  <a:srgbClr val="BBBBCC"/>
                </a:solidFill>
              </a:rPr>
              <a:t>Knowledge base grows slowly — one QA at a 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737360"/>
            <a:ext cx="5303520" cy="438912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920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B71"/>
                </a:solidFill>
              </a:defRPr>
            </a:pPr>
            <a:r>
              <a:t>What We Needed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4688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4ECB71"/>
                </a:solidFill>
              </a:rPr>
              <a:t>  &gt;  </a:t>
            </a:r>
            <a:r>
              <a:rPr sz="1400">
                <a:solidFill>
                  <a:srgbClr val="BBBBCC"/>
                </a:solidFill>
              </a:rPr>
              <a:t>Upload entire documents at once (PDF, TXT, Images)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4ECB71"/>
                </a:solidFill>
              </a:rPr>
              <a:t>  &gt;  </a:t>
            </a:r>
            <a:r>
              <a:rPr sz="1400">
                <a:solidFill>
                  <a:srgbClr val="BBBBCC"/>
                </a:solidFill>
              </a:rPr>
              <a:t>Scrape website pages and auto-convert to knowledge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4ECB71"/>
                </a:solidFill>
              </a:rPr>
              <a:t>  &gt;  </a:t>
            </a:r>
            <a:r>
              <a:rPr sz="1400">
                <a:solidFill>
                  <a:srgbClr val="BBBBCC"/>
                </a:solidFill>
              </a:rPr>
              <a:t>Unified markdown format for easy editing by admin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4ECB71"/>
                </a:solidFill>
              </a:rPr>
              <a:t>  &gt;  </a:t>
            </a:r>
            <a:r>
              <a:rPr sz="1400">
                <a:solidFill>
                  <a:srgbClr val="BBBBCC"/>
                </a:solidFill>
              </a:rPr>
              <a:t>Automatic vector indexing for instant RAG retrieval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4ECB71"/>
                </a:solidFill>
              </a:rPr>
              <a:t>  &gt;  </a:t>
            </a:r>
            <a:r>
              <a:rPr sz="1400">
                <a:solidFill>
                  <a:srgbClr val="BBBBCC"/>
                </a:solidFill>
              </a:rPr>
              <a:t>Scalable — add hundreds of pages in minutes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4ECB71"/>
                </a:solidFill>
              </a:rPr>
              <a:t>  &gt;  </a:t>
            </a:r>
            <a:r>
              <a:rPr sz="1400">
                <a:solidFill>
                  <a:srgbClr val="BBBBCC"/>
                </a:solidFill>
              </a:rPr>
              <a:t>Admin edits content directly, changes reflect in chatbot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>
              <a:gd name="adj" fmla="val 5000"/>
            </a:avLst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Old Approach — QA Pair Review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AA"/>
                </a:solidFill>
              </a:defRPr>
            </a:pPr>
            <a:r>
              <a:t>Manual review of chatbot-generated Q&amp;A pairs through the Config Admin panel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42"/>
                </a:solidFill>
              </a:defRPr>
            </a:pPr>
            <a:r>
              <a:t>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1">
                <a:solidFill>
                  <a:srgbClr val="FF8C42"/>
                </a:solidFill>
              </a:rPr>
              <a:t>  1.  </a:t>
            </a:r>
            <a:r>
              <a:rPr sz="1300">
                <a:solidFill>
                  <a:srgbClr val="BBBBCC"/>
                </a:solidFill>
              </a:rPr>
              <a:t>User asks a question to the chatbot (CDPGPT)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1">
                <a:solidFill>
                  <a:srgbClr val="FF8C42"/>
                </a:solidFill>
              </a:rPr>
              <a:t>  2.  </a:t>
            </a:r>
            <a:r>
              <a:rPr sz="1300">
                <a:solidFill>
                  <a:srgbClr val="BBBBCC"/>
                </a:solidFill>
              </a:rPr>
              <a:t>Chatbot generates an answer from existing knowledge base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1">
                <a:solidFill>
                  <a:srgbClr val="FF8C42"/>
                </a:solidFill>
              </a:rPr>
              <a:t>  3.  </a:t>
            </a:r>
            <a:r>
              <a:rPr sz="1300">
                <a:solidFill>
                  <a:srgbClr val="BBBBCC"/>
                </a:solidFill>
              </a:rPr>
              <a:t>Admin reviews the QA pair in Conversation History (Config Admin panel)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1">
                <a:solidFill>
                  <a:srgbClr val="FF8C42"/>
                </a:solidFill>
              </a:rPr>
              <a:t>  4.  </a:t>
            </a:r>
            <a:r>
              <a:rPr sz="1300">
                <a:solidFill>
                  <a:srgbClr val="BBBBCC"/>
                </a:solidFill>
              </a:rPr>
              <a:t>Admin sets a Status: Correct / Incorrect / Partially Correct / Junk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1">
                <a:solidFill>
                  <a:srgbClr val="FF8C42"/>
                </a:solidFill>
              </a:rPr>
              <a:t>  5.  </a:t>
            </a:r>
            <a:r>
              <a:rPr sz="1300">
                <a:solidFill>
                  <a:srgbClr val="BBBBCC"/>
                </a:solidFill>
              </a:rPr>
              <a:t>If Incorrect or Partially Correct — admin provides a Suggestion (corrected answer)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1">
                <a:solidFill>
                  <a:srgbClr val="FF8C42"/>
                </a:solidFill>
              </a:rPr>
              <a:t>  6.  </a:t>
            </a:r>
            <a:r>
              <a:rPr sz="1300">
                <a:solidFill>
                  <a:srgbClr val="BBBBCC"/>
                </a:solidFill>
              </a:rPr>
              <a:t>Updated answer is saved back to the database for future use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474720"/>
            <a:ext cx="3474720" cy="283464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611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93D"/>
                </a:solidFill>
              </a:defRPr>
            </a:pPr>
            <a:r>
              <a:t>Status Options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6908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FFD93D"/>
                </a:solidFill>
              </a:rPr>
              <a:t>  &gt;  </a:t>
            </a:r>
            <a:r>
              <a:rPr sz="1300">
                <a:solidFill>
                  <a:srgbClr val="BBBBCC"/>
                </a:solidFill>
              </a:rPr>
              <a:t>Correct — answer is verified, no change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FFD93D"/>
                </a:solidFill>
              </a:rPr>
              <a:t>  &gt;  </a:t>
            </a:r>
            <a:r>
              <a:rPr sz="1300">
                <a:solidFill>
                  <a:srgbClr val="BBBBCC"/>
                </a:solidFill>
              </a:rPr>
              <a:t>Incorrect — answer is wrong, admin provides fix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FFD93D"/>
                </a:solidFill>
              </a:rPr>
              <a:t>  &gt;  </a:t>
            </a:r>
            <a:r>
              <a:rPr sz="1300">
                <a:solidFill>
                  <a:srgbClr val="BBBBCC"/>
                </a:solidFill>
              </a:rPr>
              <a:t>Partially Correct — needs minor corrections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FFD93D"/>
                </a:solidFill>
              </a:rPr>
              <a:t>  &gt;  </a:t>
            </a:r>
            <a:r>
              <a:rPr sz="1300">
                <a:solidFill>
                  <a:srgbClr val="BBBBCC"/>
                </a:solidFill>
              </a:rPr>
              <a:t>Junk — irrelevant, flagged for removal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3474720"/>
            <a:ext cx="3474720" cy="283464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3611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8EFF"/>
                </a:solidFill>
              </a:defRPr>
            </a:pPr>
            <a:r>
              <a:t>Key Components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406908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4E8EFF"/>
                </a:solidFill>
              </a:rPr>
              <a:t>  &gt;  </a:t>
            </a:r>
            <a:r>
              <a:rPr sz="1300">
                <a:solidFill>
                  <a:srgbClr val="BBBBCC"/>
                </a:solidFill>
              </a:rPr>
              <a:t>CDPGPT Conversation History page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4E8EFF"/>
                </a:solidFill>
              </a:rPr>
              <a:t>  &gt;  </a:t>
            </a:r>
            <a:r>
              <a:rPr sz="1300">
                <a:solidFill>
                  <a:srgbClr val="BBBBCC"/>
                </a:solidFill>
              </a:rPr>
              <a:t>Filter by Year &amp; Tournament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4E8EFF"/>
                </a:solidFill>
              </a:rPr>
              <a:t>  &gt;  </a:t>
            </a:r>
            <a:r>
              <a:rPr sz="1300">
                <a:solidFill>
                  <a:srgbClr val="BBBBCC"/>
                </a:solidFill>
              </a:rPr>
              <a:t>Action button to open QA review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4E8EFF"/>
                </a:solidFill>
              </a:rPr>
              <a:t>  &gt;  </a:t>
            </a:r>
            <a:r>
              <a:rPr sz="1300">
                <a:solidFill>
                  <a:srgbClr val="BBBBCC"/>
                </a:solidFill>
              </a:rPr>
              <a:t>Save button persists to database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3474720"/>
            <a:ext cx="3383280" cy="283464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36118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6B"/>
                </a:solidFill>
              </a:defRPr>
            </a:pPr>
            <a:r>
              <a:t>Limitations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406908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FF6B6B"/>
                </a:solidFill>
              </a:rPr>
              <a:t>  &gt;  </a:t>
            </a:r>
            <a:r>
              <a:rPr sz="1300">
                <a:solidFill>
                  <a:srgbClr val="BBBBCC"/>
                </a:solidFill>
              </a:rPr>
              <a:t>One QA pair at a time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FF6B6B"/>
                </a:solidFill>
              </a:rPr>
              <a:t>  &gt;  </a:t>
            </a:r>
            <a:r>
              <a:rPr sz="1300">
                <a:solidFill>
                  <a:srgbClr val="BBBBCC"/>
                </a:solidFill>
              </a:rPr>
              <a:t>Reactive — only fixes after user asks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FF6B6B"/>
                </a:solidFill>
              </a:rPr>
              <a:t>  &gt;  </a:t>
            </a:r>
            <a:r>
              <a:rPr sz="1300">
                <a:solidFill>
                  <a:srgbClr val="BBBBCC"/>
                </a:solidFill>
              </a:rPr>
              <a:t>No document/URL ingestion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FF6B6B"/>
                </a:solidFill>
              </a:rPr>
              <a:t>  &gt;  </a:t>
            </a:r>
            <a:r>
              <a:rPr sz="1300">
                <a:solidFill>
                  <a:srgbClr val="BBBBCC"/>
                </a:solidFill>
              </a:rPr>
              <a:t>Slow knowledge base growth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>
              <a:gd name="adj" fmla="val 5000"/>
            </a:avLst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Old Approach —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AA"/>
                </a:solidFill>
              </a:defRPr>
            </a:pPr>
            <a:r>
              <a:t>Config Admin panel: Conversation History &amp; QA Pair Review with status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645920"/>
            <a:ext cx="5669280" cy="45720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7335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42"/>
                </a:solidFill>
              </a:defRPr>
            </a:pPr>
            <a:r>
              <a:t>CDPGPT Conversation History</a:t>
            </a:r>
          </a:p>
        </p:txBody>
      </p:sp>
      <p:pic>
        <p:nvPicPr>
          <p:cNvPr id="7" name="Picture 6" descr="old_conversation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148840"/>
            <a:ext cx="5669280" cy="42062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309360" y="1645920"/>
            <a:ext cx="5486400" cy="45720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7335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42"/>
                </a:solidFill>
              </a:defRPr>
            </a:pPr>
            <a:r>
              <a:t>QA Pair Review — Status Dropdown</a:t>
            </a:r>
          </a:p>
        </p:txBody>
      </p:sp>
      <p:pic>
        <p:nvPicPr>
          <p:cNvPr id="10" name="Picture 9" descr="old_qa_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148840"/>
            <a:ext cx="548640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>
              <a:gd name="adj" fmla="val 5000"/>
            </a:avLst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New Approach — Document Upload &amp; RAG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AA"/>
                </a:solidFill>
              </a:defRPr>
            </a:pPr>
            <a:r>
              <a:t>Upload files or scrape URLs → auto-convert to Markdown → index in FAISS → RAG Chat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11064240" cy="164592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9A7"/>
                </a:solidFill>
              </a:defRPr>
            </a:pPr>
            <a:r>
              <a:t>Pipeline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1">
                <a:solidFill>
                  <a:srgbClr val="00C9A7"/>
                </a:solidFill>
              </a:rPr>
              <a:t>  1.  </a:t>
            </a:r>
            <a:r>
              <a:rPr sz="1200">
                <a:solidFill>
                  <a:srgbClr val="BBBBCC"/>
                </a:solidFill>
              </a:rPr>
              <a:t>Admin clicks Upload → chooses File Upload or URL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1">
                <a:solidFill>
                  <a:srgbClr val="00C9A7"/>
                </a:solidFill>
              </a:rPr>
              <a:t>  2.  </a:t>
            </a:r>
            <a:r>
              <a:rPr sz="1200">
                <a:solidFill>
                  <a:srgbClr val="BBBBCC"/>
                </a:solidFill>
              </a:rPr>
              <a:t>File: PDF / TXT / MD / Images are processed via Docling (OCR + structure extraction)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1">
                <a:solidFill>
                  <a:srgbClr val="00C9A7"/>
                </a:solidFill>
              </a:rPr>
              <a:t>  3.  </a:t>
            </a:r>
            <a:r>
              <a:rPr sz="1200">
                <a:solidFill>
                  <a:srgbClr val="BBBBCC"/>
                </a:solidFill>
              </a:rPr>
              <a:t>URL: Page is scraped with httpx, HTML converted to clean Markdown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1">
                <a:solidFill>
                  <a:srgbClr val="00C9A7"/>
                </a:solidFill>
              </a:rPr>
              <a:t>  4.  </a:t>
            </a:r>
            <a:r>
              <a:rPr sz="1200">
                <a:solidFill>
                  <a:srgbClr val="BBBBCC"/>
                </a:solidFill>
              </a:rPr>
              <a:t>Output saved as .md file with descriptive name (e.g. cooperstowndreamspark_com_testimonials.md)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1">
                <a:solidFill>
                  <a:srgbClr val="00C9A7"/>
                </a:solidFill>
              </a:rPr>
              <a:t>  5.  </a:t>
            </a:r>
            <a:r>
              <a:rPr sz="1200">
                <a:solidFill>
                  <a:srgbClr val="BBBBCC"/>
                </a:solidFill>
              </a:rPr>
              <a:t>Content is chunked (500 words, 50 overlap) → embedded via OpenAI text-embedding-3-small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1">
                <a:solidFill>
                  <a:srgbClr val="00C9A7"/>
                </a:solidFill>
              </a:rPr>
              <a:t>  6.  </a:t>
            </a:r>
            <a:r>
              <a:rPr sz="1200">
                <a:solidFill>
                  <a:srgbClr val="BBBBCC"/>
                </a:solidFill>
              </a:rPr>
              <a:t>Vectors stored in FAISS index → instantly searchable via RAG Chat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1">
                <a:solidFill>
                  <a:srgbClr val="00C9A7"/>
                </a:solidFill>
              </a:rPr>
              <a:t>  7.  </a:t>
            </a:r>
            <a:r>
              <a:rPr sz="1200">
                <a:solidFill>
                  <a:srgbClr val="BBBBCC"/>
                </a:solidFill>
              </a:rPr>
              <a:t>Admin can view, edit, or delete any .md file from the Files page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657600"/>
            <a:ext cx="3474720" cy="274320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7947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8EFF"/>
                </a:solidFill>
              </a:defRPr>
            </a:pPr>
            <a:r>
              <a:t>Input Sources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20624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4E8EFF"/>
                </a:solidFill>
              </a:rPr>
              <a:t>  &gt;  </a:t>
            </a:r>
            <a:r>
              <a:rPr sz="1300">
                <a:solidFill>
                  <a:srgbClr val="BBBBCC"/>
                </a:solidFill>
              </a:rPr>
              <a:t>PDF documents (OCR via Docling)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4E8EFF"/>
                </a:solidFill>
              </a:rPr>
              <a:t>  &gt;  </a:t>
            </a:r>
            <a:r>
              <a:rPr sz="1300">
                <a:solidFill>
                  <a:srgbClr val="BBBBCC"/>
                </a:solidFill>
              </a:rPr>
              <a:t>Images: PNG, JPG, WEBP, BMP, TIFF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4E8EFF"/>
                </a:solidFill>
              </a:rPr>
              <a:t>  &gt;  </a:t>
            </a:r>
            <a:r>
              <a:rPr sz="1300">
                <a:solidFill>
                  <a:srgbClr val="BBBBCC"/>
                </a:solidFill>
              </a:rPr>
              <a:t>Plain text (.txt) and Markdown (.md)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4E8EFF"/>
                </a:solidFill>
              </a:rPr>
              <a:t>  &gt;  </a:t>
            </a:r>
            <a:r>
              <a:rPr sz="1300">
                <a:solidFill>
                  <a:srgbClr val="BBBBCC"/>
                </a:solidFill>
              </a:rPr>
              <a:t>Any website URL (auto-scrape)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3657600"/>
            <a:ext cx="3474720" cy="274320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37947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9A7"/>
                </a:solidFill>
              </a:defRPr>
            </a:pPr>
            <a:r>
              <a:t>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420624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C9A7"/>
                </a:solidFill>
              </a:rPr>
              <a:t>  &gt;  </a:t>
            </a:r>
            <a:r>
              <a:rPr sz="1300">
                <a:solidFill>
                  <a:srgbClr val="BBBBCC"/>
                </a:solidFill>
              </a:rPr>
              <a:t>Docling extracts text, tables, images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C9A7"/>
                </a:solidFill>
              </a:rPr>
              <a:t>  &gt;  </a:t>
            </a:r>
            <a:r>
              <a:rPr sz="1300">
                <a:solidFill>
                  <a:srgbClr val="BBBBCC"/>
                </a:solidFill>
              </a:rPr>
              <a:t>HTML → Markdown via BeautifulSoup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C9A7"/>
                </a:solidFill>
              </a:rPr>
              <a:t>  &gt;  </a:t>
            </a:r>
            <a:r>
              <a:rPr sz="1300">
                <a:solidFill>
                  <a:srgbClr val="BBBBCC"/>
                </a:solidFill>
              </a:rPr>
              <a:t>Smart file naming from URL/filename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C9A7"/>
                </a:solidFill>
              </a:rPr>
              <a:t>  &gt;  </a:t>
            </a:r>
            <a:r>
              <a:rPr sz="1300">
                <a:solidFill>
                  <a:srgbClr val="BBBBCC"/>
                </a:solidFill>
              </a:rPr>
              <a:t>Structured JSON + Markdown output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3657600"/>
            <a:ext cx="3383280" cy="274320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37947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B71"/>
                </a:solidFill>
              </a:defRPr>
            </a:pPr>
            <a:r>
              <a:t>Storage &amp; Retrieval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420624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4ECB71"/>
                </a:solidFill>
              </a:rPr>
              <a:t>  &gt;  </a:t>
            </a:r>
            <a:r>
              <a:rPr sz="1300">
                <a:solidFill>
                  <a:srgbClr val="BBBBCC"/>
                </a:solidFill>
              </a:rPr>
              <a:t>FAISS vector index (L2 similarity)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4ECB71"/>
                </a:solidFill>
              </a:rPr>
              <a:t>  &gt;  </a:t>
            </a:r>
            <a:r>
              <a:rPr sz="1300">
                <a:solidFill>
                  <a:srgbClr val="BBBBCC"/>
                </a:solidFill>
              </a:rPr>
              <a:t>OpenAI text-embedding-3-small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4ECB71"/>
                </a:solidFill>
              </a:rPr>
              <a:t>  &gt;  </a:t>
            </a:r>
            <a:r>
              <a:rPr sz="1300">
                <a:solidFill>
                  <a:srgbClr val="BBBBCC"/>
                </a:solidFill>
              </a:rPr>
              <a:t>GPT-4o for answer generation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4ECB71"/>
                </a:solidFill>
              </a:rPr>
              <a:t>  &gt;  </a:t>
            </a:r>
            <a:r>
              <a:rPr sz="1300">
                <a:solidFill>
                  <a:srgbClr val="BBBBCC"/>
                </a:solidFill>
              </a:rPr>
              <a:t>Top-k configurable (1–20 chunks)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>
              <a:gd name="adj" fmla="val 5000"/>
            </a:avLst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New Approach — Screenshot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AA"/>
                </a:solidFill>
              </a:defRPr>
            </a:pPr>
            <a:r>
              <a:t>Content Manager: Upload Content page with URL scrape and Markdown preview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54480"/>
            <a:ext cx="10362895" cy="45720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581912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A7"/>
                </a:solidFill>
              </a:defRPr>
            </a:pPr>
            <a:r>
              <a:t>Upload Content — URL Scrape with Live Markdown Preview</a:t>
            </a:r>
          </a:p>
        </p:txBody>
      </p:sp>
      <p:pic>
        <p:nvPicPr>
          <p:cNvPr id="7" name="Picture 6" descr="new_approa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57400"/>
            <a:ext cx="10362895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>
              <a:gd name="adj" fmla="val 5000"/>
            </a:avLst>
          </a:prstGeom>
          <a:solidFill>
            <a:srgbClr val="4E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Old vs New — Comparison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200400" cy="548640"/>
          </a:xfrm>
          <a:prstGeom prst="roundRect">
            <a:avLst>
              <a:gd name="adj" fmla="val 5000"/>
            </a:avLst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99032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Feature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31920" y="1371600"/>
            <a:ext cx="3840480" cy="548640"/>
          </a:xfrm>
          <a:prstGeom prst="roundRect">
            <a:avLst>
              <a:gd name="adj" fmla="val 5000"/>
            </a:avLst>
          </a:prstGeom>
          <a:solidFill>
            <a:srgbClr val="8B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0" y="1399032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Old Approach (QA Review)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371600"/>
            <a:ext cx="3749039" cy="548640"/>
          </a:xfrm>
          <a:prstGeom prst="roundRect">
            <a:avLst>
              <a:gd name="adj" fmla="val 5000"/>
            </a:avLst>
          </a:prstGeom>
          <a:solidFill>
            <a:srgbClr val="1A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1399032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New Approach (Content Manager)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11680"/>
            <a:ext cx="3200400" cy="475488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31680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93D"/>
                </a:solidFill>
              </a:defRPr>
            </a:pPr>
            <a:r>
              <a:t>Content Input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31920" y="2011680"/>
            <a:ext cx="3840480" cy="475488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0" y="2031680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Chat-generated QA pairs only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2011680"/>
            <a:ext cx="3749039" cy="475488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203168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A7"/>
                </a:solidFill>
              </a:defRPr>
            </a:pPr>
            <a:r>
              <a:t>PDF, TXT, Images, URLs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487168"/>
            <a:ext cx="3200400" cy="475488"/>
          </a:xfrm>
          <a:prstGeom prst="roundRect">
            <a:avLst>
              <a:gd name="adj" fmla="val 5000"/>
            </a:avLst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507168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93D"/>
                </a:solidFill>
              </a:defRPr>
            </a:pPr>
            <a:r>
              <a:t>Admin Workflow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31920" y="2487168"/>
            <a:ext cx="3840480" cy="475488"/>
          </a:xfrm>
          <a:prstGeom prst="roundRect">
            <a:avLst>
              <a:gd name="adj" fmla="val 5000"/>
            </a:avLst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0" y="2507168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Review one QA pair at a time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79" y="2487168"/>
            <a:ext cx="3749039" cy="475488"/>
          </a:xfrm>
          <a:prstGeom prst="roundRect">
            <a:avLst>
              <a:gd name="adj" fmla="val 5000"/>
            </a:avLst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2507168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A7"/>
                </a:solidFill>
              </a:defRPr>
            </a:pPr>
            <a:r>
              <a:t>Upload bulk files or scrape pages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2962656"/>
            <a:ext cx="3200400" cy="475488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2982656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93D"/>
                </a:solidFill>
              </a:defRPr>
            </a:pPr>
            <a:r>
              <a:t>Data Format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931920" y="2962656"/>
            <a:ext cx="3840480" cy="475488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0" y="2982656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QA pairs in database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55279" y="2962656"/>
            <a:ext cx="3749039" cy="475488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0" y="2982656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A7"/>
                </a:solidFill>
              </a:defRPr>
            </a:pPr>
            <a:r>
              <a:t>Markdown (.md) files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438144"/>
            <a:ext cx="3200400" cy="475488"/>
          </a:xfrm>
          <a:prstGeom prst="roundRect">
            <a:avLst>
              <a:gd name="adj" fmla="val 5000"/>
            </a:avLst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3458144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93D"/>
                </a:solidFill>
              </a:defRPr>
            </a:pPr>
            <a:r>
              <a:t>Editing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931920" y="3438144"/>
            <a:ext cx="3840480" cy="475488"/>
          </a:xfrm>
          <a:prstGeom prst="roundRect">
            <a:avLst>
              <a:gd name="adj" fmla="val 5000"/>
            </a:avLst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0" y="3458144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Status + Suggestion per answer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55279" y="3438144"/>
            <a:ext cx="3749039" cy="475488"/>
          </a:xfrm>
          <a:prstGeom prst="roundRect">
            <a:avLst>
              <a:gd name="adj" fmla="val 5000"/>
            </a:avLst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38160" y="3458144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A7"/>
                </a:solidFill>
              </a:defRPr>
            </a:pPr>
            <a:r>
              <a:t>Edit full .md document directly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3913632"/>
            <a:ext cx="3200400" cy="475488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3933632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93D"/>
                </a:solidFill>
              </a:defRPr>
            </a:pPr>
            <a:r>
              <a:t>Knowledge Growth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931920" y="3913632"/>
            <a:ext cx="3840480" cy="475488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0" y="3933632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Slow — one answer at a time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55279" y="3913632"/>
            <a:ext cx="3749039" cy="475488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38160" y="3933632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A7"/>
                </a:solidFill>
              </a:defRPr>
            </a:pPr>
            <a:r>
              <a:t>Fast — entire documents at once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4389120"/>
            <a:ext cx="3200400" cy="475488"/>
          </a:xfrm>
          <a:prstGeom prst="roundRect">
            <a:avLst>
              <a:gd name="adj" fmla="val 5000"/>
            </a:avLst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4409120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93D"/>
                </a:solidFill>
              </a:defRPr>
            </a:pPr>
            <a:r>
              <a:t>Search / Retrieval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931920" y="4389120"/>
            <a:ext cx="3840480" cy="475488"/>
          </a:xfrm>
          <a:prstGeom prst="roundRect">
            <a:avLst>
              <a:gd name="adj" fmla="val 5000"/>
            </a:avLst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800" y="4409120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Database keyword lookup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955279" y="4389120"/>
            <a:ext cx="3749039" cy="475488"/>
          </a:xfrm>
          <a:prstGeom prst="roundRect">
            <a:avLst>
              <a:gd name="adj" fmla="val 5000"/>
            </a:avLst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38160" y="440912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A7"/>
                </a:solidFill>
              </a:defRPr>
            </a:pPr>
            <a:r>
              <a:t>FAISS vector similarity (RAG)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8640" y="4864608"/>
            <a:ext cx="3200400" cy="475488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" y="4884608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93D"/>
                </a:solidFill>
              </a:defRPr>
            </a:pPr>
            <a:r>
              <a:t>AI Model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931920" y="4864608"/>
            <a:ext cx="3840480" cy="475488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14800" y="4884608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GPT-based answer generation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955279" y="4864608"/>
            <a:ext cx="3749039" cy="475488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138160" y="4884608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A7"/>
                </a:solidFill>
              </a:defRPr>
            </a:pPr>
            <a:r>
              <a:t>GPT-4o + text-embedding-3-small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48640" y="5340096"/>
            <a:ext cx="3200400" cy="475488"/>
          </a:xfrm>
          <a:prstGeom prst="roundRect">
            <a:avLst>
              <a:gd name="adj" fmla="val 5000"/>
            </a:avLst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1520" y="5360096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93D"/>
                </a:solidFill>
              </a:defRPr>
            </a:pPr>
            <a:r>
              <a:t>Scalability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931920" y="5340096"/>
            <a:ext cx="3840480" cy="475488"/>
          </a:xfrm>
          <a:prstGeom prst="roundRect">
            <a:avLst>
              <a:gd name="adj" fmla="val 5000"/>
            </a:avLst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14800" y="5360096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Limited by QA volume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955279" y="5340096"/>
            <a:ext cx="3749039" cy="475488"/>
          </a:xfrm>
          <a:prstGeom prst="roundRect">
            <a:avLst>
              <a:gd name="adj" fmla="val 5000"/>
            </a:avLst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138160" y="5360096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A7"/>
                </a:solidFill>
              </a:defRPr>
            </a:pPr>
            <a:r>
              <a:t>Upload 100s of pages in minutes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48640" y="5815584"/>
            <a:ext cx="3200400" cy="475488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31520" y="5835584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93D"/>
                </a:solidFill>
              </a:defRPr>
            </a:pPr>
            <a:r>
              <a:t>Content Sources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931920" y="5815584"/>
            <a:ext cx="3840480" cy="475488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114800" y="5835584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Only chatbot conversations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955279" y="5815584"/>
            <a:ext cx="3749039" cy="475488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138160" y="5835584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A7"/>
                </a:solidFill>
              </a:defRPr>
            </a:pPr>
            <a:r>
              <a:t>Any document or website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>
              <a:gd name="adj" fmla="val 5000"/>
            </a:avLst>
          </a:prstGeom>
          <a:solidFill>
            <a:srgbClr val="4E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New Approach — 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AA"/>
                </a:solidFill>
              </a:defRPr>
            </a:pPr>
            <a:r>
              <a:t>Full stack: Streamlit frontend  +  FastAPI backend  +  FAISS vector store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2286000" cy="731520"/>
          </a:xfrm>
          <a:prstGeom prst="roundRect">
            <a:avLst>
              <a:gd name="adj" fmla="val 5000"/>
            </a:avLst>
          </a:prstGeom>
          <a:solidFill>
            <a:srgbClr val="4E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55648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Frontend</a:t>
            </a:r>
            <a:br/>
            <a:r>
              <a:t>Streamlit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560320"/>
            <a:ext cx="2286000" cy="228600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2103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 b="1">
                <a:solidFill>
                  <a:srgbClr val="4E8EFF"/>
                </a:solidFill>
              </a:rPr>
              <a:t>  &gt;  </a:t>
            </a:r>
            <a:r>
              <a:rPr sz="1100">
                <a:solidFill>
                  <a:srgbClr val="BBBBCC"/>
                </a:solidFill>
              </a:rPr>
              <a:t>Content Manager UI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 b="1">
                <a:solidFill>
                  <a:srgbClr val="4E8EFF"/>
                </a:solidFill>
              </a:rPr>
              <a:t>  &gt;  </a:t>
            </a:r>
            <a:r>
              <a:rPr sz="1100">
                <a:solidFill>
                  <a:srgbClr val="BBBBCC"/>
                </a:solidFill>
              </a:rPr>
              <a:t>File Upload / URL Scrape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 b="1">
                <a:solidFill>
                  <a:srgbClr val="4E8EFF"/>
                </a:solidFill>
              </a:rPr>
              <a:t>  &gt;  </a:t>
            </a:r>
            <a:r>
              <a:rPr sz="1100">
                <a:solidFill>
                  <a:srgbClr val="BBBBCC"/>
                </a:solidFill>
              </a:rPr>
              <a:t>RAG Chat Interface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 b="1">
                <a:solidFill>
                  <a:srgbClr val="4E8EFF"/>
                </a:solidFill>
              </a:rPr>
              <a:t>  &gt;  </a:t>
            </a:r>
            <a:r>
              <a:rPr sz="1100">
                <a:solidFill>
                  <a:srgbClr val="BBBBCC"/>
                </a:solidFill>
              </a:rPr>
              <a:t>Files Browser &amp; Editor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0" y="1737360"/>
            <a:ext cx="2286000" cy="731520"/>
          </a:xfrm>
          <a:prstGeom prst="roundRect">
            <a:avLst>
              <a:gd name="adj" fmla="val 5000"/>
            </a:avLst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1755648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Backend</a:t>
            </a:r>
            <a:br/>
            <a:r>
              <a:t>FastAPI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08960" y="2560320"/>
            <a:ext cx="2286000" cy="228600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2651760"/>
            <a:ext cx="2103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 b="1">
                <a:solidFill>
                  <a:srgbClr val="00C9A7"/>
                </a:solidFill>
              </a:rPr>
              <a:t>  &gt;  </a:t>
            </a:r>
            <a:r>
              <a:rPr sz="1100">
                <a:solidFill>
                  <a:srgbClr val="BBBBCC"/>
                </a:solidFill>
              </a:rPr>
              <a:t>POST /upload — file processing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 b="1">
                <a:solidFill>
                  <a:srgbClr val="00C9A7"/>
                </a:solidFill>
              </a:rPr>
              <a:t>  &gt;  </a:t>
            </a:r>
            <a:r>
              <a:rPr sz="1100">
                <a:solidFill>
                  <a:srgbClr val="BBBBCC"/>
                </a:solidFill>
              </a:rPr>
              <a:t>POST /scrape — URL fetching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 b="1">
                <a:solidFill>
                  <a:srgbClr val="00C9A7"/>
                </a:solidFill>
              </a:rPr>
              <a:t>  &gt;  </a:t>
            </a:r>
            <a:r>
              <a:rPr sz="1100">
                <a:solidFill>
                  <a:srgbClr val="BBBBCC"/>
                </a:solidFill>
              </a:rPr>
              <a:t>POST /rag/query — RAG search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 b="1">
                <a:solidFill>
                  <a:srgbClr val="00C9A7"/>
                </a:solidFill>
              </a:rPr>
              <a:t>  &gt;  </a:t>
            </a:r>
            <a:r>
              <a:rPr sz="1100">
                <a:solidFill>
                  <a:srgbClr val="BBBBCC"/>
                </a:solidFill>
              </a:rPr>
              <a:t>GET /files — list all docs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0" y="1737360"/>
            <a:ext cx="2286000" cy="731520"/>
          </a:xfrm>
          <a:prstGeom prst="roundRect">
            <a:avLst>
              <a:gd name="adj" fmla="val 5000"/>
            </a:avLst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0" y="1755648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Processing</a:t>
            </a:r>
            <a:br/>
            <a:r>
              <a:t>Docling + BS4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0" y="2560320"/>
            <a:ext cx="2286000" cy="228600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0" y="2651760"/>
            <a:ext cx="2103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 b="1">
                <a:solidFill>
                  <a:srgbClr val="FF8C42"/>
                </a:solidFill>
              </a:rPr>
              <a:t>  &gt;  </a:t>
            </a:r>
            <a:r>
              <a:rPr sz="1100">
                <a:solidFill>
                  <a:srgbClr val="BBBBCC"/>
                </a:solidFill>
              </a:rPr>
              <a:t>PDF OCR extraction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 b="1">
                <a:solidFill>
                  <a:srgbClr val="FF8C42"/>
                </a:solidFill>
              </a:rPr>
              <a:t>  &gt;  </a:t>
            </a:r>
            <a:r>
              <a:rPr sz="1100">
                <a:solidFill>
                  <a:srgbClr val="BBBBCC"/>
                </a:solidFill>
              </a:rPr>
              <a:t>Image text recognition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 b="1">
                <a:solidFill>
                  <a:srgbClr val="FF8C42"/>
                </a:solidFill>
              </a:rPr>
              <a:t>  &gt;  </a:t>
            </a:r>
            <a:r>
              <a:rPr sz="1100">
                <a:solidFill>
                  <a:srgbClr val="BBBBCC"/>
                </a:solidFill>
              </a:rPr>
              <a:t>HTML → Markdown conversion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 b="1">
                <a:solidFill>
                  <a:srgbClr val="FF8C42"/>
                </a:solidFill>
              </a:rPr>
              <a:t>  &gt;  </a:t>
            </a:r>
            <a:r>
              <a:rPr sz="1100">
                <a:solidFill>
                  <a:srgbClr val="BBBBCC"/>
                </a:solidFill>
              </a:rPr>
              <a:t>Table &amp; structure parsing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737360"/>
            <a:ext cx="2286000" cy="731520"/>
          </a:xfrm>
          <a:prstGeom prst="roundRect">
            <a:avLst>
              <a:gd name="adj" fmla="val 5000"/>
            </a:avLst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755648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Vector Store</a:t>
            </a:r>
            <a:br/>
            <a:r>
              <a:t>FAISS + OpenAI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2560320"/>
            <a:ext cx="2286000" cy="228600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2651760"/>
            <a:ext cx="2103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 b="1">
                <a:solidFill>
                  <a:srgbClr val="4ECB71"/>
                </a:solidFill>
              </a:rPr>
              <a:t>  &gt;  </a:t>
            </a:r>
            <a:r>
              <a:rPr sz="1100">
                <a:solidFill>
                  <a:srgbClr val="BBBBCC"/>
                </a:solidFill>
              </a:rPr>
              <a:t>text-embedding-3-small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 b="1">
                <a:solidFill>
                  <a:srgbClr val="4ECB71"/>
                </a:solidFill>
              </a:rPr>
              <a:t>  &gt;  </a:t>
            </a:r>
            <a:r>
              <a:rPr sz="1100">
                <a:solidFill>
                  <a:srgbClr val="BBBBCC"/>
                </a:solidFill>
              </a:rPr>
              <a:t>Chunking (500w / 50 overlap)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 b="1">
                <a:solidFill>
                  <a:srgbClr val="4ECB71"/>
                </a:solidFill>
              </a:rPr>
              <a:t>  &gt;  </a:t>
            </a:r>
            <a:r>
              <a:rPr sz="1100">
                <a:solidFill>
                  <a:srgbClr val="BBBBCC"/>
                </a:solidFill>
              </a:rPr>
              <a:t>L2 similarity search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 b="1">
                <a:solidFill>
                  <a:srgbClr val="4ECB71"/>
                </a:solidFill>
              </a:rPr>
              <a:t>  &gt;  </a:t>
            </a:r>
            <a:r>
              <a:rPr sz="1100">
                <a:solidFill>
                  <a:srgbClr val="BBBBCC"/>
                </a:solidFill>
              </a:rPr>
              <a:t>GPT-4o answer generation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18288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888AA"/>
                </a:solidFill>
              </a:defRPr>
            </a:pPr>
            <a:r>
              <a:t>-&gt;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0680" y="18288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888AA"/>
                </a:solidFill>
              </a:defRPr>
            </a:pPr>
            <a:r>
              <a:t>-&gt;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18288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888AA"/>
                </a:solidFill>
              </a:defRPr>
            </a:pPr>
            <a:r>
              <a:t>-&gt;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120640"/>
            <a:ext cx="9875520" cy="137160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212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93D"/>
                </a:solidFill>
              </a:defRPr>
            </a:pPr>
            <a:r>
              <a:t>Data Flow Example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623560"/>
            <a:ext cx="9509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URL: cooperstowndreamspark.com/testimonials</a:t>
            </a:r>
            <a:br/>
            <a:r>
              <a:t>  --&gt;  Fetch HTML with httpx  --&gt;  Strip nav/footer/scripts  --&gt;  Convert to Markdown</a:t>
            </a:r>
            <a:br/>
            <a:r>
              <a:t>  --&gt;  Save as cooperstowndreamspark_com_testimonials.md  --&gt;  Chunk into 500-word segments</a:t>
            </a:r>
            <a:br/>
            <a:r>
              <a:t>  --&gt;  Embed each chunk via OpenAI  --&gt;  Add to FAISS index  --&gt;  Ready for RAG queries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>
              <a:gd name="adj" fmla="val 5000"/>
            </a:avLst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Smart File Naming Convention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AA"/>
                </a:solidFill>
              </a:defRPr>
            </a:pPr>
            <a:r>
              <a:t>All content is stored as .md (Markdown) with human-readable names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11064240" cy="164592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9A7"/>
                </a:solidFill>
              </a:defRPr>
            </a:pPr>
            <a:r>
              <a:t>URL Scraping — Name derived from URL path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31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AA"/>
                </a:solidFill>
              </a:defRPr>
            </a:pPr>
            <a:r>
              <a:t>cooperstowndreamspark.com/testimonials/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3317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C9A7"/>
                </a:solidFill>
              </a:defRPr>
            </a:pPr>
            <a:r>
              <a:t>--&gt;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3317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A7"/>
                </a:solidFill>
              </a:defRPr>
            </a:pPr>
            <a:r>
              <a:t>cooperstowndreamspark_com_testimonials.md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606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AA"/>
                </a:solidFill>
              </a:defRPr>
            </a:pPr>
            <a:r>
              <a:t>example.com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6060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C9A7"/>
                </a:solidFill>
              </a:defRPr>
            </a:pPr>
            <a:r>
              <a:t>--&gt;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6060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A7"/>
                </a:solidFill>
              </a:defRPr>
            </a:pPr>
            <a:r>
              <a:t>example_com.md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880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AA"/>
                </a:solidFill>
              </a:defRPr>
            </a:pPr>
            <a:r>
              <a:t>xyz.com/abc/def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8803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C9A7"/>
                </a:solidFill>
              </a:defRPr>
            </a:pPr>
            <a:r>
              <a:t>--&gt;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8803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A7"/>
                </a:solidFill>
              </a:defRPr>
            </a:pPr>
            <a:r>
              <a:t>xyz_com_abc_def.md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154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AA"/>
                </a:solidFill>
              </a:defRPr>
            </a:pPr>
            <a:r>
              <a:t>xyz.com/page.html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1546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C9A7"/>
                </a:solidFill>
              </a:defRPr>
            </a:pPr>
            <a:r>
              <a:t>--&gt;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31546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A7"/>
                </a:solidFill>
              </a:defRPr>
            </a:pPr>
            <a:r>
              <a:t>xyz_com_page.md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657600"/>
            <a:ext cx="11064240" cy="137160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74903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8EFF"/>
                </a:solidFill>
              </a:defRPr>
            </a:pPr>
            <a:r>
              <a:t>File Upload — Name derived from original filename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206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AA"/>
                </a:solidFill>
              </a:defRPr>
            </a:pPr>
            <a:r>
              <a:t>img 1.jpg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4206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E8EFF"/>
                </a:solidFill>
              </a:defRPr>
            </a:pPr>
            <a:r>
              <a:t>--&gt;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42062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8EFF"/>
                </a:solidFill>
              </a:defRPr>
            </a:pPr>
            <a:r>
              <a:t>img_1.md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480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AA"/>
                </a:solidFill>
              </a:defRPr>
            </a:pPr>
            <a:r>
              <a:t>Annual Report 2025.pdf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44805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E8EFF"/>
                </a:solidFill>
              </a:defRPr>
            </a:pPr>
            <a:r>
              <a:t>--&gt;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44805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8EFF"/>
                </a:solidFill>
              </a:defRPr>
            </a:pPr>
            <a:r>
              <a:t>Annual_Report_2025.md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4754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AA"/>
                </a:solidFill>
              </a:defRPr>
            </a:pPr>
            <a:r>
              <a:t>sample_test_document.md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47548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E8EFF"/>
                </a:solidFill>
              </a:defRPr>
            </a:pPr>
            <a:r>
              <a:t>--&gt;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47548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8EFF"/>
                </a:solidFill>
              </a:defRPr>
            </a:pPr>
            <a:r>
              <a:t>sample_test_document.md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029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AA"/>
                </a:solidFill>
              </a:defRPr>
            </a:pPr>
            <a:r>
              <a:t>photo.png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50292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E8EFF"/>
                </a:solidFill>
              </a:defRPr>
            </a:pPr>
            <a:r>
              <a:t>--&gt;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50292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8EFF"/>
                </a:solidFill>
              </a:defRPr>
            </a:pPr>
            <a:r>
              <a:t>photo.md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303520"/>
            <a:ext cx="11064240" cy="640080"/>
          </a:xfrm>
          <a:prstGeom prst="roundRect">
            <a:avLst>
              <a:gd name="adj" fmla="val 5000"/>
            </a:avLst>
          </a:prstGeom>
          <a:solidFill>
            <a:srgbClr val="1A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349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B71"/>
                </a:solidFill>
              </a:defRPr>
            </a:pPr>
            <a:r>
              <a:t>Rule: All files are always stored and displayed as .md — the user never sees the original format. Conversion happens in the background automatically.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>
              <a:gd name="adj" fmla="val 5000"/>
            </a:avLst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Key Benefits of the New Approach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1064240" cy="82296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2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8E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401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10x Faster Content Ingestion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42160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Upload entire documents or scrape full websites instead of reviewing one QA pair at a 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40280"/>
            <a:ext cx="11064240" cy="82296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90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A7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270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Unified Markdown Format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29028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Everything stored as .md — easy to read, edit, and version control. Admin has full control over content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108960"/>
            <a:ext cx="11064240" cy="82296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158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B71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138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Automatic Vector Indexing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15896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Content is chunked and embedded automatically via FAISS + OpenAI. Instantly searchable via RAG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977640"/>
            <a:ext cx="11064240" cy="82296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027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42"/>
                </a:solidFill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07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Multi-Source Support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402764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PDF, TXT, Images (OCR via Docling), Markdown files, and any website URL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846320"/>
            <a:ext cx="11064240" cy="82296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896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93D"/>
                </a:solidFill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876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Smart Naming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489632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Files named from URLs (cooperstowndreamspark_com_testimonials.md) or original filenames — always .md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715000"/>
            <a:ext cx="11064240" cy="82296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765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8EFF"/>
                </a:solidFill>
              </a:defRPr>
            </a:pPr>
            <a: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5745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RAG-Powered Chat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576500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GPT-4o generates answers grounded in your indexed documents with configurable top-k retrieval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>
              <a:gd name="adj" fmla="val 5000"/>
            </a:avLst>
          </a:prstGeom>
          <a:solidFill>
            <a:srgbClr val="4E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2926080"/>
            <a:ext cx="2133295" cy="36576"/>
          </a:xfrm>
          <a:prstGeom prst="roundRect">
            <a:avLst>
              <a:gd name="adj" fmla="val 5000"/>
            </a:avLst>
          </a:prstGeom>
          <a:solidFill>
            <a:srgbClr val="4E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32918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BBBCC"/>
                </a:solidFill>
              </a:defRPr>
            </a:pPr>
            <a:r>
              <a:t>CDP Chatbot — Content Management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023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AA"/>
                </a:solidFill>
              </a:defRPr>
            </a:pPr>
            <a:r>
              <a:t>Cooperstown Dreams Park  |  Powered by FAISS + GPT-4o + Docling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4846320"/>
            <a:ext cx="1005840" cy="41148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4864608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E8EFF"/>
                </a:solidFill>
              </a:defRPr>
            </a:pPr>
            <a:r>
              <a:t>FastAPI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86200" y="4846320"/>
            <a:ext cx="1005840" cy="41148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86200" y="4864608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E8EFF"/>
                </a:solidFill>
              </a:defRPr>
            </a:pPr>
            <a:r>
              <a:t>Streamlit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4846320"/>
            <a:ext cx="1005840" cy="41148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4864608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E8EFF"/>
                </a:solidFill>
              </a:defRPr>
            </a:pPr>
            <a:r>
              <a:t>FAISS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4846320"/>
            <a:ext cx="1005840" cy="41148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4864608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E8EFF"/>
                </a:solidFill>
              </a:defRPr>
            </a:pPr>
            <a:r>
              <a:t>OpenAI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4846320"/>
            <a:ext cx="1005840" cy="41148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4864608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E8EFF"/>
                </a:solidFill>
              </a:defRPr>
            </a:pPr>
            <a:r>
              <a:t>Docling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58200" y="4846320"/>
            <a:ext cx="1005840" cy="41148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4864608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E8EFF"/>
                </a:solidFill>
              </a:defRPr>
            </a:pPr>
            <a:r>
              <a:t>BeautifulSoup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